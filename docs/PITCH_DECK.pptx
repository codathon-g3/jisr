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 محمد ثابت (بالعربية)]:</a:t>
            </a:r>
          </a:p>
          <a:p>
            <a:r>
              <a:t>السلام عليكم أعضاء اللجنة الكرام.</a:t>
            </a:r>
          </a:p>
          <a:p>
            <a:r>
              <a:t>في قضايا الصحة النفسية لدى الشباب في ليبيا، نقطة الفشل الأولى والأخطر هي الصمت. عندما يتعرض الشاب لضغط الامتحانات، العائلة، أو العمل، المشكلة ليست أنه لا يريد المساعدة، بل أنه يقف متجمداً أمام شاشة هاتفه الفارغة محاولاً كتابة الجملة الأولى لأخيه أو صديقه.</a:t>
            </a:r>
          </a:p>
          <a:p>
            <a:r>
              <a:t>في مجتمعنا، تتضافر الوصمة الاجتماعية مع الإرهاق النفسي لفرض الصمت حتى تتحول الضغوط البسيطة إلى أزمات حادة. اليوم نقدم لكم 'جسر' — رفيق كتابة ذكي هدفه كسر هذا الصمت في أول 60 ثانية وربط الإنسان بالإنسان.</a:t>
            </a:r>
          </a:p>
          <a:p/>
          <a:p>
            <a:r>
              <a:t>[Speaker Notes — English Transcript]:</a:t>
            </a:r>
          </a:p>
          <a:p>
            <a:r>
              <a:t>Peace be upon you, honorable committee members. In mental health struggles among Libyan youth, the fatal failure mode is silence. When a young student is overwhelmed by exams or family pressure, the hardest step is not wanting help—it is staring at a blank screen trying to articulate the first sentence. Stigma and overwhelm freeze people into silence until stress turns into crisis. Today we present Jisr: an AI writing companion built with one singular mission: end the silence early and connect human to human.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 محمد ثابت (بالعربية)]:</a:t>
            </a:r>
          </a:p>
          <a:p>
            <a:r>
              <a:t>جسر يختلف جذرياً عن تطبيقات الصحة النفسية الشائعة. نحن لم نبنِ روبوت محادثة، ولا ندّعي تقديم علاج نفسي آلي. المستخدم ببساطة يحدد موضوع ضغطه بنقرة واحدة مثل الامتحانات، ويكتب سطراً أو سطرين بعفويته. جسر يفحص الأمان فورياً، ويولد ثلاث صياغات مهذبة تناسب المتلقي، ويمكّنه من إرسالها مباشرة عبر واتساب أو ماسنجر. الشاب هو المؤلف والمتحكم دائماً، واللحظة التي يغلق فيها تطبيقنا ليتحدث مع أخته أو صديقه، تكون مهمة جسر قد نجحت بالكامل.</a:t>
            </a:r>
          </a:p>
          <a:p/>
          <a:p>
            <a:r>
              <a:t>[Speaker Notes — English Transcript]:</a:t>
            </a:r>
          </a:p>
          <a:p>
            <a:r>
              <a:t>Jisr is fundamentally different from generic AI health apps: we did not build a conversational chatbot, and we do not pretend to be an artificial therapist. The user simply taps everyday situation chips and writes 1-2 lines. Jisr runs an immediate safety check, produces three editable tone-adapted drafts tailored for their recipient, and lets them share directly through WhatsApp or Messenger. The moment the user closes our app to talk to their friend, Jisr has succeeded.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 محمد ثابت (بالعربية)]:</a:t>
            </a:r>
          </a:p>
          <a:p>
            <a:r>
              <a:t>كما أكدت اللجنة التوجيهية، وضع وسم 'ذكاء اصطناعي' على فكرة ليس كافياً. في جسر، الذكاء الاصطناعي يؤدي أربع مهام لغوية حقيقية لا تستطيع القوالب القيام بها: تفكيك الكلمات العفوية، ضبط المقام الاجتماعي، التدقيق على عدم اختلاق مشاعر، وتصنيف اللهجة. وحتى نثبت ذلك، بنينا زر مقارنة حية داخل التطبيق يضع النصين جنباً إلى جنب أمام المقيم والشباب.</a:t>
            </a:r>
          </a:p>
          <a:p/>
          <a:p>
            <a:r>
              <a:t>[Speaker Notes — English Transcript]:</a:t>
            </a:r>
          </a:p>
          <a:p>
            <a:r>
              <a:t>As emphasized in the Codathon guidelines, simply labeling a project 'AI-based' is not enough. In Jisr, AI performs four precise tasks that forms and rules cannot do: restructures chaotic thoughts, adapts tone between close friends vs teachers, verifies faithfulness to prevent invented feelings, and classifies dialect risk. We built a live Baseline Comparison toggle directly into the app so judges can see the exact difference between our AI draft and a generic template.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 محمد ثابت (بالعربية)]:</a:t>
            </a:r>
          </a:p>
          <a:p>
            <a:r>
              <a:t>الأمان في هذا المجال أولوية مطلقة. قبل أن يصل النص إلى محرك الصياغة، تفحص طبقة الحارس عبارات الأزمة باللهجة الليبية بدقة 100%. وإذا وُجد خطر، تتوقف الصياغة وتظهر بطاقة دعم بشرية موثوقة بدون أرقام وهمية. وتمنع فلترة المخرجات 55 مصطلحاً طبياً من الظهور في أي مسودة. وعلى صعيد الخصوصية: جسر لا يطلب حساباً ولا يحتفظ بأي أثر للرسائل على أي سيرفر خارجي. لحظات الضعف تبقى ملكاً للمستخدم وحده.</a:t>
            </a:r>
          </a:p>
          <a:p/>
          <a:p>
            <a:r>
              <a:t>[Speaker Notes — English Transcript]:</a:t>
            </a:r>
          </a:p>
          <a:p>
            <a:r>
              <a:t>Safety in this space cannot be an afterthought. Before any text ever reaches drafting, our Guardian Layer screens for crisis indicators across Libyan dialect with 100% recall. If crisis is detected, drafting stops immediately and a verified human support card is presented. Furthermore, our output filter guarantees no clinical diagnoses or medication terms can ever appear. And on privacy: Jisr requires no accounts, no logins, and retains zero data on any server.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 محمد ثابت (بالعربية)]:</a:t>
            </a:r>
          </a:p>
          <a:p>
            <a:r>
              <a:t>جسر صُمم ليعيش في الواقع الليبي: تطبيق APK خفيف يعمل على أي هاتف، لا يحتاج إنترنت قوي بفضل القوالب البديلة، يفهم لهجتنا، يحترم مكانة العائلة، ويرتبط مباشرة بواتساب وماسنجر.</a:t>
            </a:r>
          </a:p>
          <a:p>
            <a:r>
              <a:t>يقف وراء هذا المشروع فريق متكامل: محمد ثابت في القيادة والمعمارية واللغة، ريان في تطبيق المحمول والـ APK، معتز في خادم الذكاء الاصطناعي والنماذج، وشيماء في طبقة الأمان واختباراتها الـ 450.</a:t>
            </a:r>
          </a:p>
          <a:p>
            <a:r>
              <a:t>بإزالة عائق الجملة الأولى، جسر يحول الصمت إلى حوار إنساني منقذ. شكراً لكم، ونتشرف بأسئلتكم وملاحظاتكم.</a:t>
            </a:r>
          </a:p>
          <a:p/>
          <a:p>
            <a:r>
              <a:t>[Speaker Notes — English Transcript]:</a:t>
            </a:r>
          </a:p>
          <a:p>
            <a:r>
              <a:t>Jisr was built for Libyan reality: packaged as a lightweight downloadable Android APK, operates with zero bandwidth using deterministic fallback templates, understands authentic Libyan dialect, respects family structures, and connects directly to WhatsApp and Messenger. Our 4-person team executed rigorous engineering across mobile, AI backend, safety benchmarks, and trust UI. By removing the friction of the first sentence, Jisr helps young Libyans turn silence into early, life-changing human conversations.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con.png"/>
          <p:cNvPicPr>
            <a:picLocks noChangeAspect="1"/>
          </p:cNvPicPr>
          <p:nvPr/>
        </p:nvPicPr>
        <p:blipFill>
          <a:blip r:embed="rId2"/>
          <a:stretch>
            <a:fillRect/>
          </a:stretch>
        </p:blipFill>
        <p:spPr>
          <a:xfrm>
            <a:off x="548640" y="292608"/>
            <a:ext cx="384048" cy="384048"/>
          </a:xfrm>
          <a:prstGeom prst="rect">
            <a:avLst/>
          </a:prstGeom>
        </p:spPr>
      </p:pic>
      <p:sp>
        <p:nvSpPr>
          <p:cNvPr id="4" name="TextBox 3"/>
          <p:cNvSpPr txBox="1"/>
          <p:nvPr/>
        </p:nvSpPr>
        <p:spPr>
          <a:xfrm>
            <a:off x="1024128" y="347472"/>
            <a:ext cx="5486400" cy="320040"/>
          </a:xfrm>
          <a:prstGeom prst="rect">
            <a:avLst/>
          </a:prstGeom>
          <a:noFill/>
        </p:spPr>
        <p:txBody>
          <a:bodyPr wrap="square">
            <a:spAutoFit/>
          </a:bodyPr>
          <a:lstStyle/>
          <a:p>
            <a:pPr algn="l">
              <a:defRPr sz="1100">
                <a:solidFill>
                  <a:srgbClr val="94A3B8"/>
                </a:solidFill>
                <a:latin typeface="Segoe UI"/>
              </a:defRPr>
            </a:pPr>
            <a:r>
              <a:t>Ai4LY National Codathon 2026 — منتدى ليبيا للذكاء الاصطناعي</a:t>
            </a:r>
          </a:p>
        </p:txBody>
      </p:sp>
      <p:sp>
        <p:nvSpPr>
          <p:cNvPr id="5" name="Rounded Rectangle 4"/>
          <p:cNvSpPr/>
          <p:nvPr/>
        </p:nvSpPr>
        <p:spPr>
          <a:xfrm>
            <a:off x="9418320" y="347472"/>
            <a:ext cx="2194560" cy="320040"/>
          </a:xfrm>
          <a:prstGeom prst="roundRect">
            <a:avLst/>
          </a:prstGeom>
          <a:solidFill>
            <a:srgbClr val="161E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rtl="1">
              <a:defRPr sz="1100" b="1">
                <a:solidFill>
                  <a:srgbClr val="F59E0B"/>
                </a:solidFill>
                <a:latin typeface="Segoe UI"/>
              </a:defRPr>
            </a:pPr>
            <a:r>
              <a:t>الشريحة 1  |  0:00 – 1:00</a:t>
            </a:r>
          </a:p>
        </p:txBody>
      </p:sp>
      <p:sp>
        <p:nvSpPr>
          <p:cNvPr id="6" name="TextBox 5"/>
          <p:cNvSpPr txBox="1"/>
          <p:nvPr/>
        </p:nvSpPr>
        <p:spPr>
          <a:xfrm>
            <a:off x="548640" y="777240"/>
            <a:ext cx="11064240" cy="502920"/>
          </a:xfrm>
          <a:prstGeom prst="rect">
            <a:avLst/>
          </a:prstGeom>
          <a:noFill/>
        </p:spPr>
        <p:txBody>
          <a:bodyPr wrap="square">
            <a:spAutoFit/>
          </a:bodyPr>
          <a:lstStyle/>
          <a:p>
            <a:pPr algn="r" rtl="1">
              <a:defRPr sz="2100" b="1">
                <a:solidFill>
                  <a:srgbClr val="F1F5F9"/>
                </a:solidFill>
                <a:latin typeface="Segoe UI"/>
              </a:defRPr>
            </a:pPr>
            <a:r>
              <a:t>المشكلة: الصمت عند الجملة الأولى  —  The Problem: The Silence at the First Sentence</a:t>
            </a:r>
          </a:p>
        </p:txBody>
      </p:sp>
      <p:sp>
        <p:nvSpPr>
          <p:cNvPr id="7" name="TextBox 6"/>
          <p:cNvSpPr txBox="1"/>
          <p:nvPr/>
        </p:nvSpPr>
        <p:spPr>
          <a:xfrm>
            <a:off x="548640" y="1298448"/>
            <a:ext cx="11064240" cy="320040"/>
          </a:xfrm>
          <a:prstGeom prst="rect">
            <a:avLst/>
          </a:prstGeom>
          <a:noFill/>
        </p:spPr>
        <p:txBody>
          <a:bodyPr wrap="square">
            <a:spAutoFit/>
          </a:bodyPr>
          <a:lstStyle/>
          <a:p>
            <a:pPr algn="r" rtl="1">
              <a:defRPr sz="1200">
                <a:solidFill>
                  <a:srgbClr val="94A3B8"/>
                </a:solidFill>
                <a:latin typeface="Segoe UI"/>
              </a:defRPr>
            </a:pPr>
            <a:r>
              <a:t>العائق الأكبر أمام طلب المساعدة النفسية لدى الشباب في ليبيا ليس الرغبة، بل بدء الحديث</a:t>
            </a:r>
          </a:p>
        </p:txBody>
      </p:sp>
      <p:sp>
        <p:nvSpPr>
          <p:cNvPr id="8" name="Rectangle 7"/>
          <p:cNvSpPr/>
          <p:nvPr/>
        </p:nvSpPr>
        <p:spPr>
          <a:xfrm>
            <a:off x="548640" y="1691640"/>
            <a:ext cx="11064240"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874519"/>
            <a:ext cx="5394960" cy="438912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حواجز طلب المساعدة الثلاثة المركّبة (Friction Points)</a:t>
            </a:r>
          </a:p>
          <a:p>
            <a:pPr algn="r" rtl="1">
              <a:spcBef>
                <a:spcPts val="800"/>
              </a:spcBef>
              <a:defRPr sz="1250" b="1">
                <a:solidFill>
                  <a:srgbClr val="F59E0B"/>
                </a:solidFill>
                <a:latin typeface="Segoe UI"/>
              </a:defRPr>
            </a:pPr>
            <a:r>
              <a:t>• الوصمة الاجتماعية (Cultural Stigma):</a:t>
            </a:r>
          </a:p>
          <a:p>
            <a:pPr algn="r" rtl="1">
              <a:spcAft>
                <a:spcPts val="600"/>
              </a:spcAft>
              <a:defRPr sz="1100">
                <a:solidFill>
                  <a:srgbClr val="F1F5F9"/>
                </a:solidFill>
                <a:latin typeface="Segoe UI"/>
              </a:defRPr>
            </a:pPr>
            <a:r>
              <a:t>الخوف من إطلاق تسميات وأحكام نفسية أو إفشاء المشاكل العائلية، مما يدفع الشاب لكتمان ضغوطه خلف الأبواب المغلقة.</a:t>
            </a:r>
          </a:p>
          <a:p>
            <a:pPr algn="r" rtl="1">
              <a:spcBef>
                <a:spcPts val="800"/>
              </a:spcBef>
              <a:defRPr sz="1250" b="1">
                <a:solidFill>
                  <a:srgbClr val="F59E0B"/>
                </a:solidFill>
                <a:latin typeface="Segoe UI"/>
              </a:defRPr>
            </a:pPr>
            <a:r>
              <a:t>• الإرهاق والجمود النفسي (Overwhelm):</a:t>
            </a:r>
          </a:p>
          <a:p>
            <a:pPr algn="r" rtl="1">
              <a:spcAft>
                <a:spcPts val="600"/>
              </a:spcAft>
              <a:defRPr sz="1100">
                <a:solidFill>
                  <a:srgbClr val="F1F5F9"/>
                </a:solidFill>
                <a:latin typeface="Segoe UI"/>
              </a:defRPr>
            </a:pPr>
            <a:r>
              <a:t>تشتت التفكير وانخفاض طاقة التركيز وقت اشتداد الضغط، مما يسبب شللاً عاطفياً يعجز معه الشاب عن صياغة جملة مفهومة.</a:t>
            </a:r>
          </a:p>
          <a:p>
            <a:pPr algn="r" rtl="1">
              <a:spcBef>
                <a:spcPts val="800"/>
              </a:spcBef>
              <a:defRPr sz="1250" b="1">
                <a:solidFill>
                  <a:srgbClr val="F59E0B"/>
                </a:solidFill>
                <a:latin typeface="Segoe UI"/>
              </a:defRPr>
            </a:pPr>
            <a:r>
              <a:t>• تكلفة التعبير (Articulation Cost):</a:t>
            </a:r>
          </a:p>
          <a:p>
            <a:pPr algn="r" rtl="1">
              <a:spcAft>
                <a:spcPts val="600"/>
              </a:spcAft>
              <a:defRPr sz="1100">
                <a:solidFill>
                  <a:srgbClr val="F1F5F9"/>
                </a:solidFill>
                <a:latin typeface="Segoe UI"/>
              </a:defRPr>
            </a:pPr>
            <a:r>
              <a:t>التردد أمام شاشة المحادثة الفارغة لأكثر من 30 دقيقة، مما يؤدي إلى مسح الرسائل والتراجع عن طلب الدعم تماماً.</a:t>
            </a:r>
          </a:p>
        </p:txBody>
      </p:sp>
      <p:sp>
        <p:nvSpPr>
          <p:cNvPr id="10" name="Rounded Rectangle 9"/>
          <p:cNvSpPr/>
          <p:nvPr/>
        </p:nvSpPr>
        <p:spPr>
          <a:xfrm>
            <a:off x="548640" y="1874519"/>
            <a:ext cx="5394960" cy="438912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واقع البيئة الداعمة في ليبيا وتكلفة الصمت (Libyan Reality)</a:t>
            </a:r>
          </a:p>
          <a:p>
            <a:pPr algn="r" rtl="1">
              <a:spcBef>
                <a:spcPts val="600"/>
              </a:spcBef>
              <a:defRPr sz="1250" b="1">
                <a:solidFill>
                  <a:srgbClr val="94A3B8"/>
                </a:solidFill>
                <a:latin typeface="Segoe UI"/>
              </a:defRPr>
            </a:pPr>
            <a:r>
              <a:t>• ندرة الرعاية المتخصصة وتركزها الجغرافي:</a:t>
            </a:r>
          </a:p>
          <a:p>
            <a:pPr algn="r" rtl="1">
              <a:spcAft>
                <a:spcPts val="400"/>
              </a:spcAft>
              <a:defRPr sz="1100">
                <a:solidFill>
                  <a:srgbClr val="F1F5F9"/>
                </a:solidFill>
                <a:latin typeface="Segoe UI"/>
              </a:defRPr>
            </a:pPr>
            <a:r>
              <a:t>العيادات والأطباء النفسيون نادرون في مدننا، ولا يمكن أن يكونوا خط الدفاع الأول للضغوط الدراسية واليومية.</a:t>
            </a:r>
          </a:p>
          <a:p>
            <a:pPr algn="r" rtl="1">
              <a:spcBef>
                <a:spcPts val="600"/>
              </a:spcBef>
              <a:defRPr sz="1250" b="1">
                <a:solidFill>
                  <a:srgbClr val="94A3B8"/>
                </a:solidFill>
                <a:latin typeface="Segoe UI"/>
              </a:defRPr>
            </a:pPr>
            <a:r>
              <a:t>• شبكة الدعم الطبيعية متوفرة بالفعل:</a:t>
            </a:r>
          </a:p>
          <a:p>
            <a:pPr algn="r" rtl="1">
              <a:spcAft>
                <a:spcPts val="400"/>
              </a:spcAft>
              <a:defRPr sz="1100">
                <a:solidFill>
                  <a:srgbClr val="F1F5F9"/>
                </a:solidFill>
                <a:latin typeface="Segoe UI"/>
              </a:defRPr>
            </a:pPr>
            <a:r>
              <a:t>الأخ، الأخت، الوالدان، والصديق المقرب مستعدون للمساندة — المانع الوحيد هو كسر حاجز البداية.</a:t>
            </a:r>
          </a:p>
          <a:p>
            <a:pPr algn="r" rtl="1">
              <a:spcBef>
                <a:spcPts val="600"/>
              </a:spcBef>
              <a:defRPr sz="1250" b="1">
                <a:solidFill>
                  <a:srgbClr val="EF4444"/>
                </a:solidFill>
                <a:latin typeface="Segoe UI"/>
              </a:defRPr>
            </a:pPr>
            <a:r>
              <a:t>• الخطر القاتل للصمت المبكر:</a:t>
            </a:r>
          </a:p>
          <a:p>
            <a:pPr algn="r" rtl="1">
              <a:spcAft>
                <a:spcPts val="400"/>
              </a:spcAft>
              <a:defRPr sz="1100">
                <a:solidFill>
                  <a:srgbClr val="F1F5F9"/>
                </a:solidFill>
                <a:latin typeface="Segoe UI"/>
              </a:defRPr>
            </a:pPr>
            <a:r>
              <a:t>الكتمان المستمر يحول ضغوط الامتحانات والعمل اليومية إلى أزمات حادة وانفجارات نفسية غير قابلة للاحتواء.</a:t>
            </a:r>
          </a:p>
          <a:p>
            <a:pPr algn="r" rtl="1">
              <a:spcBef>
                <a:spcPts val="600"/>
              </a:spcBef>
              <a:defRPr sz="1250" b="1">
                <a:solidFill>
                  <a:srgbClr val="10B981"/>
                </a:solidFill>
                <a:latin typeface="Segoe UI"/>
              </a:defRPr>
            </a:pPr>
            <a:r>
              <a:t>• رسالة جسر الأساسية:</a:t>
            </a:r>
          </a:p>
          <a:p>
            <a:pPr algn="r" rtl="1">
              <a:spcAft>
                <a:spcPts val="400"/>
              </a:spcAft>
              <a:defRPr sz="1100">
                <a:solidFill>
                  <a:srgbClr val="F1F5F9"/>
                </a:solidFill>
                <a:latin typeface="Segoe UI"/>
              </a:defRPr>
            </a:pPr>
            <a:r>
              <a:t>التدخل المبكر في أول 60 ثانية لإنهاء الصمت وفتح باب المحادثة الإنسانية المباشرة.</a:t>
            </a:r>
          </a:p>
        </p:txBody>
      </p:sp>
      <p:sp>
        <p:nvSpPr>
          <p:cNvPr id="11" name="TextBox 10"/>
          <p:cNvSpPr txBox="1"/>
          <p:nvPr/>
        </p:nvSpPr>
        <p:spPr>
          <a:xfrm>
            <a:off x="548640" y="6419088"/>
            <a:ext cx="11064240" cy="320040"/>
          </a:xfrm>
          <a:prstGeom prst="rect">
            <a:avLst/>
          </a:prstGeom>
          <a:noFill/>
        </p:spPr>
        <p:txBody>
          <a:bodyPr wrap="none">
            <a:spAutoFit/>
          </a:bodyPr>
          <a:lstStyle/>
          <a:p>
            <a:pPr algn="ctr" rtl="1">
              <a:defRPr sz="1000">
                <a:solidFill>
                  <a:srgbClr val="94A3B8"/>
                </a:solidFill>
                <a:latin typeface="Segoe UI"/>
              </a:defRPr>
            </a:pPr>
            <a:r>
              <a:t>جسر (Jisr) — محمد ثابت (رئيس الفريق)، ريان، معتز، شيماء  |  منتدى ليبيا للذكاء الاصطناعي 2026 (Ai4LY)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con.png"/>
          <p:cNvPicPr>
            <a:picLocks noChangeAspect="1"/>
          </p:cNvPicPr>
          <p:nvPr/>
        </p:nvPicPr>
        <p:blipFill>
          <a:blip r:embed="rId2"/>
          <a:stretch>
            <a:fillRect/>
          </a:stretch>
        </p:blipFill>
        <p:spPr>
          <a:xfrm>
            <a:off x="548640" y="292608"/>
            <a:ext cx="384048" cy="384048"/>
          </a:xfrm>
          <a:prstGeom prst="rect">
            <a:avLst/>
          </a:prstGeom>
        </p:spPr>
      </p:pic>
      <p:sp>
        <p:nvSpPr>
          <p:cNvPr id="4" name="TextBox 3"/>
          <p:cNvSpPr txBox="1"/>
          <p:nvPr/>
        </p:nvSpPr>
        <p:spPr>
          <a:xfrm>
            <a:off x="1024128" y="347472"/>
            <a:ext cx="5486400" cy="320040"/>
          </a:xfrm>
          <a:prstGeom prst="rect">
            <a:avLst/>
          </a:prstGeom>
          <a:noFill/>
        </p:spPr>
        <p:txBody>
          <a:bodyPr wrap="square">
            <a:spAutoFit/>
          </a:bodyPr>
          <a:lstStyle/>
          <a:p>
            <a:pPr algn="l">
              <a:defRPr sz="1100">
                <a:solidFill>
                  <a:srgbClr val="94A3B8"/>
                </a:solidFill>
                <a:latin typeface="Segoe UI"/>
              </a:defRPr>
            </a:pPr>
            <a:r>
              <a:t>Ai4LY National Codathon 2026 — منتدى ليبيا للذكاء الاصطناعي</a:t>
            </a:r>
          </a:p>
        </p:txBody>
      </p:sp>
      <p:sp>
        <p:nvSpPr>
          <p:cNvPr id="5" name="Rounded Rectangle 4"/>
          <p:cNvSpPr/>
          <p:nvPr/>
        </p:nvSpPr>
        <p:spPr>
          <a:xfrm>
            <a:off x="9418320" y="347472"/>
            <a:ext cx="2194560" cy="320040"/>
          </a:xfrm>
          <a:prstGeom prst="roundRect">
            <a:avLst/>
          </a:prstGeom>
          <a:solidFill>
            <a:srgbClr val="161E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rtl="1">
              <a:defRPr sz="1100" b="1">
                <a:solidFill>
                  <a:srgbClr val="F59E0B"/>
                </a:solidFill>
                <a:latin typeface="Segoe UI"/>
              </a:defRPr>
            </a:pPr>
            <a:r>
              <a:t>الشريحة 2  |  1:00 – 2:00</a:t>
            </a:r>
          </a:p>
        </p:txBody>
      </p:sp>
      <p:sp>
        <p:nvSpPr>
          <p:cNvPr id="6" name="TextBox 5"/>
          <p:cNvSpPr txBox="1"/>
          <p:nvPr/>
        </p:nvSpPr>
        <p:spPr>
          <a:xfrm>
            <a:off x="548640" y="777240"/>
            <a:ext cx="11064240" cy="502920"/>
          </a:xfrm>
          <a:prstGeom prst="rect">
            <a:avLst/>
          </a:prstGeom>
          <a:noFill/>
        </p:spPr>
        <p:txBody>
          <a:bodyPr wrap="square">
            <a:spAutoFit/>
          </a:bodyPr>
          <a:lstStyle/>
          <a:p>
            <a:pPr algn="r" rtl="1">
              <a:defRPr sz="2100" b="1">
                <a:solidFill>
                  <a:srgbClr val="F1F5F9"/>
                </a:solidFill>
                <a:latin typeface="Segoe UI"/>
              </a:defRPr>
            </a:pPr>
            <a:r>
              <a:t>الحل: جسر (Jisr) — رفيق كتابة لربط الإنسان بالإنسان  —  The Solution: Human-to-Human Writing Companion</a:t>
            </a:r>
          </a:p>
        </p:txBody>
      </p:sp>
      <p:sp>
        <p:nvSpPr>
          <p:cNvPr id="7" name="TextBox 6"/>
          <p:cNvSpPr txBox="1"/>
          <p:nvPr/>
        </p:nvSpPr>
        <p:spPr>
          <a:xfrm>
            <a:off x="548640" y="1298448"/>
            <a:ext cx="11064240" cy="320040"/>
          </a:xfrm>
          <a:prstGeom prst="rect">
            <a:avLst/>
          </a:prstGeom>
          <a:noFill/>
        </p:spPr>
        <p:txBody>
          <a:bodyPr wrap="square">
            <a:spAutoFit/>
          </a:bodyPr>
          <a:lstStyle/>
          <a:p>
            <a:pPr algn="r" rtl="1">
              <a:defRPr sz="1200">
                <a:solidFill>
                  <a:srgbClr val="94A3B8"/>
                </a:solidFill>
                <a:latin typeface="Segoe UI"/>
              </a:defRPr>
            </a:pPr>
            <a:r>
              <a:t>يكسر حاجز الصمت في 60 ثانية... ثم يفسح المجال للمحادثة الإنسانية الحقيقية</a:t>
            </a:r>
          </a:p>
        </p:txBody>
      </p:sp>
      <p:sp>
        <p:nvSpPr>
          <p:cNvPr id="8" name="Rectangle 7"/>
          <p:cNvSpPr/>
          <p:nvPr/>
        </p:nvSpPr>
        <p:spPr>
          <a:xfrm>
            <a:off x="548640" y="1691640"/>
            <a:ext cx="11064240"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874519"/>
            <a:ext cx="11064240" cy="137160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المسار الخطي السريع في 60 ثانية (The 60-Second Linear Flow)</a:t>
            </a:r>
          </a:p>
        </p:txBody>
      </p:sp>
      <p:sp>
        <p:nvSpPr>
          <p:cNvPr id="10" name="Rounded Rectangle 9"/>
          <p:cNvSpPr/>
          <p:nvPr/>
        </p:nvSpPr>
        <p:spPr>
          <a:xfrm>
            <a:off x="9921240" y="2423160"/>
            <a:ext cx="1691640" cy="658368"/>
          </a:xfrm>
          <a:prstGeom prst="roundRect">
            <a:avLst/>
          </a:prstGeom>
          <a:solidFill>
            <a:srgbClr val="10162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rtl="1">
              <a:defRPr sz="1000" b="1">
                <a:solidFill>
                  <a:srgbClr val="F59E0B"/>
                </a:solidFill>
                <a:latin typeface="Segoe UI"/>
              </a:defRPr>
            </a:pPr>
            <a:r>
              <a:t>1. اختيار الموضوع</a:t>
            </a:r>
          </a:p>
          <a:p>
            <a:pPr algn="ctr" rtl="1">
              <a:defRPr sz="850">
                <a:solidFill>
                  <a:srgbClr val="94A3B8"/>
                </a:solidFill>
                <a:latin typeface="Segoe UI"/>
              </a:defRPr>
            </a:pPr>
            <a:r>
              <a:t>7 رقائق ضغوط</a:t>
            </a:r>
          </a:p>
        </p:txBody>
      </p:sp>
      <p:sp>
        <p:nvSpPr>
          <p:cNvPr id="11" name="Rounded Rectangle 10"/>
          <p:cNvSpPr/>
          <p:nvPr/>
        </p:nvSpPr>
        <p:spPr>
          <a:xfrm>
            <a:off x="8083296" y="2423160"/>
            <a:ext cx="1691640" cy="658368"/>
          </a:xfrm>
          <a:prstGeom prst="roundRect">
            <a:avLst/>
          </a:prstGeom>
          <a:solidFill>
            <a:srgbClr val="101620"/>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rtl="1">
              <a:defRPr sz="1000" b="1">
                <a:solidFill>
                  <a:srgbClr val="F1F5F9"/>
                </a:solidFill>
                <a:latin typeface="Segoe UI"/>
              </a:defRPr>
            </a:pPr>
            <a:r>
              <a:t>2. محفز هادئ</a:t>
            </a:r>
          </a:p>
          <a:p>
            <a:pPr algn="ctr" rtl="1">
              <a:defRPr sz="850">
                <a:solidFill>
                  <a:srgbClr val="94A3B8"/>
                </a:solidFill>
                <a:latin typeface="Segoe UI"/>
              </a:defRPr>
            </a:pPr>
            <a:r>
              <a:t>دعوة لطيفة للكتابة</a:t>
            </a:r>
          </a:p>
        </p:txBody>
      </p:sp>
      <p:sp>
        <p:nvSpPr>
          <p:cNvPr id="12" name="Rounded Rectangle 11"/>
          <p:cNvSpPr/>
          <p:nvPr/>
        </p:nvSpPr>
        <p:spPr>
          <a:xfrm>
            <a:off x="6245352" y="2423160"/>
            <a:ext cx="1691640" cy="658368"/>
          </a:xfrm>
          <a:prstGeom prst="roundRect">
            <a:avLst/>
          </a:prstGeom>
          <a:solidFill>
            <a:srgbClr val="101620"/>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rtl="1">
              <a:defRPr sz="1000" b="1">
                <a:solidFill>
                  <a:srgbClr val="F1F5F9"/>
                </a:solidFill>
                <a:latin typeface="Segoe UI"/>
              </a:defRPr>
            </a:pPr>
            <a:r>
              <a:t>3. سطر أو سطرين</a:t>
            </a:r>
          </a:p>
          <a:p>
            <a:pPr algn="ctr" rtl="1">
              <a:defRPr sz="850">
                <a:solidFill>
                  <a:srgbClr val="94A3B8"/>
                </a:solidFill>
                <a:latin typeface="Segoe UI"/>
              </a:defRPr>
            </a:pPr>
            <a:r>
              <a:t>إدخال عفوي اختياري</a:t>
            </a:r>
          </a:p>
        </p:txBody>
      </p:sp>
      <p:sp>
        <p:nvSpPr>
          <p:cNvPr id="13" name="Rounded Rectangle 12"/>
          <p:cNvSpPr/>
          <p:nvPr/>
        </p:nvSpPr>
        <p:spPr>
          <a:xfrm>
            <a:off x="4407408" y="2423160"/>
            <a:ext cx="1691640" cy="658368"/>
          </a:xfrm>
          <a:prstGeom prst="roundRect">
            <a:avLst/>
          </a:prstGeom>
          <a:solidFill>
            <a:srgbClr val="10162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rtl="1">
              <a:defRPr sz="1000" b="1">
                <a:solidFill>
                  <a:srgbClr val="F59E0B"/>
                </a:solidFill>
                <a:latin typeface="Segoe UI"/>
              </a:defRPr>
            </a:pPr>
            <a:r>
              <a:t>4. فحص الحارس</a:t>
            </a:r>
          </a:p>
          <a:p>
            <a:pPr algn="ctr" rtl="1">
              <a:defRPr sz="850">
                <a:solidFill>
                  <a:srgbClr val="94A3B8"/>
                </a:solidFill>
                <a:latin typeface="Segoe UI"/>
              </a:defRPr>
            </a:pPr>
            <a:r>
              <a:t>أمان مسبق فوري</a:t>
            </a:r>
          </a:p>
        </p:txBody>
      </p:sp>
      <p:sp>
        <p:nvSpPr>
          <p:cNvPr id="14" name="Rounded Rectangle 13"/>
          <p:cNvSpPr/>
          <p:nvPr/>
        </p:nvSpPr>
        <p:spPr>
          <a:xfrm>
            <a:off x="2569464" y="2423160"/>
            <a:ext cx="1691640" cy="658368"/>
          </a:xfrm>
          <a:prstGeom prst="roundRect">
            <a:avLst/>
          </a:prstGeom>
          <a:solidFill>
            <a:srgbClr val="101620"/>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rtl="1">
              <a:defRPr sz="1000" b="1">
                <a:solidFill>
                  <a:srgbClr val="F1F5F9"/>
                </a:solidFill>
                <a:latin typeface="Segoe UI"/>
              </a:defRPr>
            </a:pPr>
            <a:r>
              <a:t>5. 3 صياغات</a:t>
            </a:r>
          </a:p>
          <a:p>
            <a:pPr algn="ctr" rtl="1">
              <a:defRPr sz="850">
                <a:solidFill>
                  <a:srgbClr val="94A3B8"/>
                </a:solidFill>
                <a:latin typeface="Segoe UI"/>
              </a:defRPr>
            </a:pPr>
            <a:r>
              <a:t>لطيف • مباشر • رسمي</a:t>
            </a:r>
          </a:p>
        </p:txBody>
      </p:sp>
      <p:sp>
        <p:nvSpPr>
          <p:cNvPr id="15" name="Rounded Rectangle 14"/>
          <p:cNvSpPr/>
          <p:nvPr/>
        </p:nvSpPr>
        <p:spPr>
          <a:xfrm>
            <a:off x="731520" y="2423160"/>
            <a:ext cx="1691640" cy="658368"/>
          </a:xfrm>
          <a:prstGeom prst="roundRect">
            <a:avLst/>
          </a:prstGeom>
          <a:solidFill>
            <a:srgbClr val="10162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rtl="1">
              <a:defRPr sz="1000" b="1">
                <a:solidFill>
                  <a:srgbClr val="F59E0B"/>
                </a:solidFill>
                <a:latin typeface="Segoe UI"/>
              </a:defRPr>
            </a:pPr>
            <a:r>
              <a:t>6. مشاركة مباشرة</a:t>
            </a:r>
          </a:p>
          <a:p>
            <a:pPr algn="ctr" rtl="1">
              <a:defRPr sz="850">
                <a:solidFill>
                  <a:srgbClr val="94A3B8"/>
                </a:solidFill>
                <a:latin typeface="Segoe UI"/>
              </a:defRPr>
            </a:pPr>
            <a:r>
              <a:t>تصدير لواتساب فوراً</a:t>
            </a:r>
          </a:p>
        </p:txBody>
      </p:sp>
      <p:sp>
        <p:nvSpPr>
          <p:cNvPr id="16" name="Rounded Rectangle 15"/>
          <p:cNvSpPr/>
          <p:nvPr/>
        </p:nvSpPr>
        <p:spPr>
          <a:xfrm>
            <a:off x="6217920" y="3429000"/>
            <a:ext cx="5394960" cy="283464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الطبقات الأربع للمنظومة التقنية (4 Architectural Layers)</a:t>
            </a:r>
          </a:p>
          <a:p>
            <a:pPr algn="r" rtl="1">
              <a:spcBef>
                <a:spcPts val="300"/>
              </a:spcBef>
              <a:defRPr sz="1100" b="1">
                <a:solidFill>
                  <a:srgbClr val="F1F5F9"/>
                </a:solidFill>
                <a:latin typeface="Segoe UI"/>
              </a:defRPr>
            </a:pPr>
            <a:r>
              <a:t>• 1. طبقة الالتقاط (Capture Layer):</a:t>
            </a:r>
          </a:p>
          <a:p>
            <a:pPr algn="r" rtl="1">
              <a:spcAft>
                <a:spcPts val="200"/>
              </a:spcAft>
              <a:defRPr sz="950">
                <a:solidFill>
                  <a:srgbClr val="94A3B8"/>
                </a:solidFill>
                <a:latin typeface="Segoe UI"/>
              </a:defRPr>
            </a:pPr>
            <a:r>
              <a:t>7 رقائق ضغوط يومية + 5 فئات مستقبلين (صديق، والدين، أخ، أستاذ) بواجهة RTL سريعة.</a:t>
            </a:r>
          </a:p>
          <a:p>
            <a:pPr algn="r" rtl="1">
              <a:spcBef>
                <a:spcPts val="300"/>
              </a:spcBef>
              <a:defRPr sz="1100" b="1">
                <a:solidFill>
                  <a:srgbClr val="F59E0B"/>
                </a:solidFill>
                <a:latin typeface="Segoe UI"/>
              </a:defRPr>
            </a:pPr>
            <a:r>
              <a:t>• 2. طبقة الحارس (Guardian Layer):</a:t>
            </a:r>
          </a:p>
          <a:p>
            <a:pPr algn="r" rtl="1">
              <a:spcAft>
                <a:spcPts val="200"/>
              </a:spcAft>
              <a:defRPr sz="950">
                <a:solidFill>
                  <a:srgbClr val="94A3B8"/>
                </a:solidFill>
                <a:latin typeface="Segoe UI"/>
              </a:defRPr>
            </a:pPr>
            <a:r>
              <a:t>فحص مسبق لعبارات الأزمات باللهجة الليبية وبطاقة دعم ثابتة وفلترة مخرجات قطعية.</a:t>
            </a:r>
          </a:p>
          <a:p>
            <a:pPr algn="r" rtl="1">
              <a:spcBef>
                <a:spcPts val="300"/>
              </a:spcBef>
              <a:defRPr sz="1100" b="1">
                <a:solidFill>
                  <a:srgbClr val="F1F5F9"/>
                </a:solidFill>
                <a:latin typeface="Segoe UI"/>
              </a:defRPr>
            </a:pPr>
            <a:r>
              <a:t>• 3. محرك الصياغة (Drafting Engine):</a:t>
            </a:r>
          </a:p>
          <a:p>
            <a:pPr algn="r" rtl="1">
              <a:spcAft>
                <a:spcPts val="200"/>
              </a:spcAft>
              <a:defRPr sz="950">
                <a:solidFill>
                  <a:srgbClr val="94A3B8"/>
                </a:solidFill>
                <a:latin typeface="Segoe UI"/>
              </a:defRPr>
            </a:pPr>
            <a:r>
              <a:t>توليد 3 نبرات متكيفة لغوياً (لطيف، مباشر، رسمي) مع تعديل يدوي في المكان.</a:t>
            </a:r>
          </a:p>
          <a:p>
            <a:pPr algn="r" rtl="1">
              <a:spcBef>
                <a:spcPts val="300"/>
              </a:spcBef>
              <a:defRPr sz="1100" b="1">
                <a:solidFill>
                  <a:srgbClr val="10B981"/>
                </a:solidFill>
                <a:latin typeface="Segoe UI"/>
              </a:defRPr>
            </a:pPr>
            <a:r>
              <a:t>• 4. طبقة الثقة والمشاركة (Trust &amp; Sharing):</a:t>
            </a:r>
          </a:p>
          <a:p>
            <a:pPr algn="r" rtl="1">
              <a:spcAft>
                <a:spcPts val="200"/>
              </a:spcAft>
              <a:defRPr sz="950">
                <a:solidFill>
                  <a:srgbClr val="94A3B8"/>
                </a:solidFill>
                <a:latin typeface="Segoe UI"/>
              </a:defRPr>
            </a:pPr>
            <a:r>
              <a:t>مقارنة حية مع القالب وفحص مطابقة وتصدير لواتساب وماسنجر بدون أثر.</a:t>
            </a:r>
          </a:p>
        </p:txBody>
      </p:sp>
      <p:sp>
        <p:nvSpPr>
          <p:cNvPr id="17" name="Rounded Rectangle 16"/>
          <p:cNvSpPr/>
          <p:nvPr/>
        </p:nvSpPr>
        <p:spPr>
          <a:xfrm>
            <a:off x="548640" y="3429000"/>
            <a:ext cx="5394960" cy="283464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فلسفة جسر المغايرة والحدود الأخلاقية (What We Are NOT)</a:t>
            </a:r>
          </a:p>
          <a:p>
            <a:pPr algn="r" rtl="1">
              <a:spcBef>
                <a:spcPts val="300"/>
              </a:spcBef>
              <a:defRPr sz="1100" b="1">
                <a:solidFill>
                  <a:srgbClr val="EF4444"/>
                </a:solidFill>
                <a:latin typeface="Segoe UI"/>
              </a:defRPr>
            </a:pPr>
            <a:r>
              <a:t>❌ لسنا روبوت محادثة (Not a Chatbot):</a:t>
            </a:r>
          </a:p>
          <a:p>
            <a:pPr algn="r" rtl="1">
              <a:spcAft>
                <a:spcPts val="200"/>
              </a:spcAft>
              <a:defRPr sz="950">
                <a:solidFill>
                  <a:srgbClr val="F1F5F9"/>
                </a:solidFill>
                <a:latin typeface="Segoe UI"/>
              </a:defRPr>
            </a:pPr>
            <a:r>
              <a:t>لا نجر المستخدم لحوارات شاشة وهمية قد تزيد العزلة والارتباط بالآلة.</a:t>
            </a:r>
          </a:p>
          <a:p>
            <a:pPr algn="r" rtl="1">
              <a:spcBef>
                <a:spcPts val="300"/>
              </a:spcBef>
              <a:defRPr sz="1100" b="1">
                <a:solidFill>
                  <a:srgbClr val="EF4444"/>
                </a:solidFill>
                <a:latin typeface="Segoe UI"/>
              </a:defRPr>
            </a:pPr>
            <a:r>
              <a:t>❌ لسنا معالجاً بديلاً (Not a Therapist):</a:t>
            </a:r>
          </a:p>
          <a:p>
            <a:pPr algn="r" rtl="1">
              <a:spcAft>
                <a:spcPts val="200"/>
              </a:spcAft>
              <a:defRPr sz="950">
                <a:solidFill>
                  <a:srgbClr val="F1F5F9"/>
                </a:solidFill>
                <a:latin typeface="Segoe UI"/>
              </a:defRPr>
            </a:pPr>
            <a:r>
              <a:t>لا نشخص أمراضاً ولا نضع تسميات طبية ولا نصف أدوية أو بروتوكولات علاجية.</a:t>
            </a:r>
          </a:p>
          <a:p>
            <a:pPr algn="r" rtl="1">
              <a:spcBef>
                <a:spcPts val="300"/>
              </a:spcBef>
              <a:defRPr sz="1100" b="1">
                <a:solidFill>
                  <a:srgbClr val="10B981"/>
                </a:solidFill>
                <a:latin typeface="Segoe UI"/>
              </a:defRPr>
            </a:pPr>
            <a:r>
              <a:t>✅ هدفنا الخروج السريع (Rapid Exit):</a:t>
            </a:r>
          </a:p>
          <a:p>
            <a:pPr algn="r" rtl="1">
              <a:spcAft>
                <a:spcPts val="200"/>
              </a:spcAft>
              <a:defRPr sz="950">
                <a:solidFill>
                  <a:srgbClr val="F1F5F9"/>
                </a:solidFill>
                <a:latin typeface="Segoe UI"/>
              </a:defRPr>
            </a:pPr>
            <a:r>
              <a:t>النجاح يقاس بلحظة إغلاق التطبيق وبدء المحادثة الفعلية مع الأخ أو الصديق.</a:t>
            </a:r>
          </a:p>
          <a:p>
            <a:pPr algn="r" rtl="1">
              <a:spcBef>
                <a:spcPts val="300"/>
              </a:spcBef>
              <a:defRPr sz="1100" b="1">
                <a:solidFill>
                  <a:srgbClr val="F59E0B"/>
                </a:solidFill>
                <a:latin typeface="Segoe UI"/>
              </a:defRPr>
            </a:pPr>
            <a:r>
              <a:t>👤 المستخدم هو المؤلف والمتحكم دائماً:</a:t>
            </a:r>
          </a:p>
          <a:p>
            <a:pPr algn="r" rtl="1">
              <a:spcAft>
                <a:spcPts val="200"/>
              </a:spcAft>
              <a:defRPr sz="950">
                <a:solidFill>
                  <a:srgbClr val="F1F5F9"/>
                </a:solidFill>
                <a:latin typeface="Segoe UI"/>
              </a:defRPr>
            </a:pPr>
            <a:r>
              <a:t>الذكاء الاصطناعي يقترح فقط، والشاب يراجع، يعدل، ويرسل بنفسه.</a:t>
            </a:r>
          </a:p>
        </p:txBody>
      </p:sp>
      <p:sp>
        <p:nvSpPr>
          <p:cNvPr id="18" name="TextBox 17"/>
          <p:cNvSpPr txBox="1"/>
          <p:nvPr/>
        </p:nvSpPr>
        <p:spPr>
          <a:xfrm>
            <a:off x="548640" y="6419088"/>
            <a:ext cx="11064240" cy="320040"/>
          </a:xfrm>
          <a:prstGeom prst="rect">
            <a:avLst/>
          </a:prstGeom>
          <a:noFill/>
        </p:spPr>
        <p:txBody>
          <a:bodyPr wrap="none">
            <a:spAutoFit/>
          </a:bodyPr>
          <a:lstStyle/>
          <a:p>
            <a:pPr algn="ctr" rtl="1">
              <a:defRPr sz="1000">
                <a:solidFill>
                  <a:srgbClr val="94A3B8"/>
                </a:solidFill>
                <a:latin typeface="Segoe UI"/>
              </a:defRPr>
            </a:pPr>
            <a:r>
              <a:t>جسر (Jisr) — محمد ثابت (رئيس الفريق)، ريان، معتز، شيماء  |  منتدى ليبيا للذكاء الاصطناعي 2026 (Ai4LY)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con.png"/>
          <p:cNvPicPr>
            <a:picLocks noChangeAspect="1"/>
          </p:cNvPicPr>
          <p:nvPr/>
        </p:nvPicPr>
        <p:blipFill>
          <a:blip r:embed="rId2"/>
          <a:stretch>
            <a:fillRect/>
          </a:stretch>
        </p:blipFill>
        <p:spPr>
          <a:xfrm>
            <a:off x="548640" y="292608"/>
            <a:ext cx="384048" cy="384048"/>
          </a:xfrm>
          <a:prstGeom prst="rect">
            <a:avLst/>
          </a:prstGeom>
        </p:spPr>
      </p:pic>
      <p:sp>
        <p:nvSpPr>
          <p:cNvPr id="4" name="TextBox 3"/>
          <p:cNvSpPr txBox="1"/>
          <p:nvPr/>
        </p:nvSpPr>
        <p:spPr>
          <a:xfrm>
            <a:off x="1024128" y="347472"/>
            <a:ext cx="5486400" cy="320040"/>
          </a:xfrm>
          <a:prstGeom prst="rect">
            <a:avLst/>
          </a:prstGeom>
          <a:noFill/>
        </p:spPr>
        <p:txBody>
          <a:bodyPr wrap="square">
            <a:spAutoFit/>
          </a:bodyPr>
          <a:lstStyle/>
          <a:p>
            <a:pPr algn="l">
              <a:defRPr sz="1100">
                <a:solidFill>
                  <a:srgbClr val="94A3B8"/>
                </a:solidFill>
                <a:latin typeface="Segoe UI"/>
              </a:defRPr>
            </a:pPr>
            <a:r>
              <a:t>Ai4LY National Codathon 2026 — منتدى ليبيا للذكاء الاصطناعي</a:t>
            </a:r>
          </a:p>
        </p:txBody>
      </p:sp>
      <p:sp>
        <p:nvSpPr>
          <p:cNvPr id="5" name="Rounded Rectangle 4"/>
          <p:cNvSpPr/>
          <p:nvPr/>
        </p:nvSpPr>
        <p:spPr>
          <a:xfrm>
            <a:off x="9418320" y="347472"/>
            <a:ext cx="2194560" cy="320040"/>
          </a:xfrm>
          <a:prstGeom prst="roundRect">
            <a:avLst/>
          </a:prstGeom>
          <a:solidFill>
            <a:srgbClr val="161E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rtl="1">
              <a:defRPr sz="1100" b="1">
                <a:solidFill>
                  <a:srgbClr val="F59E0B"/>
                </a:solidFill>
                <a:latin typeface="Segoe UI"/>
              </a:defRPr>
            </a:pPr>
            <a:r>
              <a:t>الشريحة 3  |  2:00 – 3:00</a:t>
            </a:r>
          </a:p>
        </p:txBody>
      </p:sp>
      <p:sp>
        <p:nvSpPr>
          <p:cNvPr id="6" name="TextBox 5"/>
          <p:cNvSpPr txBox="1"/>
          <p:nvPr/>
        </p:nvSpPr>
        <p:spPr>
          <a:xfrm>
            <a:off x="548640" y="777240"/>
            <a:ext cx="11064240" cy="502920"/>
          </a:xfrm>
          <a:prstGeom prst="rect">
            <a:avLst/>
          </a:prstGeom>
          <a:noFill/>
        </p:spPr>
        <p:txBody>
          <a:bodyPr wrap="square">
            <a:spAutoFit/>
          </a:bodyPr>
          <a:lstStyle/>
          <a:p>
            <a:pPr algn="r" rtl="1">
              <a:defRPr sz="2100" b="1">
                <a:solidFill>
                  <a:srgbClr val="F1F5F9"/>
                </a:solidFill>
                <a:latin typeface="Segoe UI"/>
              </a:defRPr>
            </a:pPr>
            <a:r>
              <a:t>الفائدة الحقيقية للذكاء الاصطناعي ومقارنة الأساس (Baseline Diff)  —  Real AI Utility vs. Decorative AI &amp; Baseline Diff</a:t>
            </a:r>
          </a:p>
        </p:txBody>
      </p:sp>
      <p:sp>
        <p:nvSpPr>
          <p:cNvPr id="7" name="TextBox 6"/>
          <p:cNvSpPr txBox="1"/>
          <p:nvPr/>
        </p:nvSpPr>
        <p:spPr>
          <a:xfrm>
            <a:off x="548640" y="1298448"/>
            <a:ext cx="11064240" cy="320040"/>
          </a:xfrm>
          <a:prstGeom prst="rect">
            <a:avLst/>
          </a:prstGeom>
          <a:noFill/>
        </p:spPr>
        <p:txBody>
          <a:bodyPr wrap="square">
            <a:spAutoFit/>
          </a:bodyPr>
          <a:lstStyle/>
          <a:p>
            <a:pPr algn="r" rtl="1">
              <a:defRPr sz="1200">
                <a:solidFill>
                  <a:srgbClr val="94A3B8"/>
                </a:solidFill>
                <a:latin typeface="Segoe UI"/>
              </a:defRPr>
            </a:pPr>
            <a:r>
              <a:t>لماذا تعجز القوالب الثابتة؟ وكيف نثبت القيمة المضافة عملياً داخل التطبيق بنقرة واحدة</a:t>
            </a:r>
          </a:p>
        </p:txBody>
      </p:sp>
      <p:sp>
        <p:nvSpPr>
          <p:cNvPr id="8" name="Rectangle 7"/>
          <p:cNvSpPr/>
          <p:nvPr/>
        </p:nvSpPr>
        <p:spPr>
          <a:xfrm>
            <a:off x="548640" y="1691640"/>
            <a:ext cx="11064240"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874519"/>
            <a:ext cx="5394960" cy="438912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4 ركائز للذكاء الاصطناعي الحقيقي (Real AI Utility)</a:t>
            </a:r>
          </a:p>
          <a:p>
            <a:pPr algn="r" rtl="1">
              <a:spcBef>
                <a:spcPts val="500"/>
              </a:spcBef>
              <a:defRPr sz="1200" b="1">
                <a:solidFill>
                  <a:srgbClr val="F59E0B"/>
                </a:solidFill>
                <a:latin typeface="Segoe UI"/>
              </a:defRPr>
            </a:pPr>
            <a:r>
              <a:t>1. هيكلة النص الفوضوي (Free-Text Structuring):</a:t>
            </a:r>
          </a:p>
          <a:p>
            <a:pPr algn="r" rtl="1">
              <a:spcAft>
                <a:spcPts val="400"/>
              </a:spcAft>
              <a:defRPr sz="1000">
                <a:solidFill>
                  <a:srgbClr val="94A3B8"/>
                </a:solidFill>
                <a:latin typeface="Segoe UI"/>
              </a:defRPr>
            </a:pPr>
            <a:r>
              <a:t>تفكيك الكلمات العفوية (مثل: 'مش قادر نقرا وبابا يضغط عليا') إلى موقف، أثر، واحتياج واضح — وهو ما تعجز عنه استمارات الإدخال الجامدة.</a:t>
            </a:r>
          </a:p>
          <a:p>
            <a:pPr algn="r" rtl="1">
              <a:spcBef>
                <a:spcPts val="500"/>
              </a:spcBef>
              <a:defRPr sz="1200" b="1">
                <a:solidFill>
                  <a:srgbClr val="F1F5F9"/>
                </a:solidFill>
                <a:latin typeface="Segoe UI"/>
              </a:defRPr>
            </a:pPr>
            <a:r>
              <a:t>2. ملاءمة النبرة والمقام (Audience &amp; Tone Adaptation):</a:t>
            </a:r>
          </a:p>
          <a:p>
            <a:pPr algn="r" rtl="1">
              <a:spcAft>
                <a:spcPts val="400"/>
              </a:spcAft>
              <a:defRPr sz="1000">
                <a:solidFill>
                  <a:srgbClr val="94A3B8"/>
                </a:solidFill>
                <a:latin typeface="Segoe UI"/>
              </a:defRPr>
            </a:pPr>
            <a:r>
              <a:t>تكييف المفردات والهيبة الاجتماعية؛ فالصياغة للصديق تختلف كلياً عن الوالدين أو الأستاذ، دون ابتذال أو برود.</a:t>
            </a:r>
          </a:p>
          <a:p>
            <a:pPr algn="r" rtl="1">
              <a:spcBef>
                <a:spcPts val="500"/>
              </a:spcBef>
              <a:defRPr sz="1200" b="1">
                <a:solidFill>
                  <a:srgbClr val="10B981"/>
                </a:solidFill>
                <a:latin typeface="Segoe UI"/>
              </a:defRPr>
            </a:pPr>
            <a:r>
              <a:t>3. فحص مطابقة المصدر (Faithfulness Alignment):</a:t>
            </a:r>
          </a:p>
          <a:p>
            <a:pPr algn="r" rtl="1">
              <a:spcAft>
                <a:spcPts val="400"/>
              </a:spcAft>
              <a:defRPr sz="1000">
                <a:solidFill>
                  <a:srgbClr val="94A3B8"/>
                </a:solidFill>
                <a:latin typeface="Segoe UI"/>
              </a:defRPr>
            </a:pPr>
            <a:r>
              <a:t>التحقق الحسابي من أن كل جملة مولدة مشتقة مباشرة من مدخلات الشاب، لمنع اختلاق مشاعر أو وقائع غير حقيقية.</a:t>
            </a:r>
          </a:p>
          <a:p>
            <a:pPr algn="r" rtl="1">
              <a:spcBef>
                <a:spcPts val="500"/>
              </a:spcBef>
              <a:defRPr sz="1200" b="1">
                <a:solidFill>
                  <a:srgbClr val="F59E0B"/>
                </a:solidFill>
                <a:latin typeface="Segoe UI"/>
              </a:defRPr>
            </a:pPr>
            <a:r>
              <a:t>4. تصنيف أزمات اللهجة (Dialect Risk Classification):</a:t>
            </a:r>
          </a:p>
          <a:p>
            <a:pPr algn="r" rtl="1">
              <a:spcAft>
                <a:spcPts val="400"/>
              </a:spcAft>
              <a:defRPr sz="1000">
                <a:solidFill>
                  <a:srgbClr val="94A3B8"/>
                </a:solidFill>
                <a:latin typeface="Segoe UI"/>
              </a:defRPr>
            </a:pPr>
            <a:r>
              <a:t>فهم الاستعارات والتعبيرات الليبية الدارجة ورموز Arabizi قبل محرك الصياغة، وهو ما تتجاوزه الكلمات المفتاحية البسيطة.</a:t>
            </a:r>
          </a:p>
        </p:txBody>
      </p:sp>
      <p:sp>
        <p:nvSpPr>
          <p:cNvPr id="10" name="Rounded Rectangle 9"/>
          <p:cNvSpPr/>
          <p:nvPr/>
        </p:nvSpPr>
        <p:spPr>
          <a:xfrm>
            <a:off x="548640" y="1874519"/>
            <a:ext cx="5394960" cy="438912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زر المقارنة الحية المدمج (Live Baseline Toggle)</a:t>
            </a:r>
          </a:p>
        </p:txBody>
      </p:sp>
      <p:sp>
        <p:nvSpPr>
          <p:cNvPr id="11" name="TextBox 10"/>
          <p:cNvSpPr txBox="1"/>
          <p:nvPr/>
        </p:nvSpPr>
        <p:spPr>
          <a:xfrm>
            <a:off x="731520" y="2240280"/>
            <a:ext cx="5029200" cy="365760"/>
          </a:xfrm>
          <a:prstGeom prst="rect">
            <a:avLst/>
          </a:prstGeom>
          <a:noFill/>
        </p:spPr>
        <p:txBody>
          <a:bodyPr wrap="square">
            <a:spAutoFit/>
          </a:bodyPr>
          <a:lstStyle/>
          <a:p>
            <a:pPr algn="r" rtl="1">
              <a:defRPr sz="1050">
                <a:solidFill>
                  <a:srgbClr val="F1F5F9"/>
                </a:solidFill>
                <a:latin typeface="Segoe UI"/>
              </a:defRPr>
            </a:pPr>
            <a:r>
              <a:t>تطبيقاً لمعيار الكوداثون الصارم برفض 'الذكاء الشكلي'، بنينا مقارنة مباشرة جنباً إلى جنب داخل التطبيق:</a:t>
            </a:r>
          </a:p>
        </p:txBody>
      </p:sp>
      <p:sp>
        <p:nvSpPr>
          <p:cNvPr id="12" name="Rounded Rectangle 11"/>
          <p:cNvSpPr/>
          <p:nvPr/>
        </p:nvSpPr>
        <p:spPr>
          <a:xfrm>
            <a:off x="731520" y="2697480"/>
            <a:ext cx="5029200" cy="1097280"/>
          </a:xfrm>
          <a:prstGeom prst="roundRect">
            <a:avLst/>
          </a:prstGeom>
          <a:solidFill>
            <a:srgbClr val="10162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r" rtl="1">
              <a:defRPr sz="1050" b="1">
                <a:solidFill>
                  <a:srgbClr val="F59E0B"/>
                </a:solidFill>
                <a:latin typeface="Segoe UI"/>
              </a:defRPr>
            </a:pPr>
            <a:r>
              <a:t>✨ صياغة الذكاء الاصطناعي (جسر — نبرة لطيفة للأم):</a:t>
            </a:r>
          </a:p>
          <a:p>
            <a:pPr algn="r" rtl="1">
              <a:spcBef>
                <a:spcPts val="300"/>
              </a:spcBef>
              <a:defRPr sz="1000">
                <a:solidFill>
                  <a:srgbClr val="F1F5F9"/>
                </a:solidFill>
                <a:latin typeface="Segoe UI"/>
              </a:defRPr>
            </a:pPr>
            <a:r>
              <a:t>«أمي الغالية، حبيت نقولك إني مضغوط شوية الفترة هادي من الامتحانات ومش قادر نركز، محتاج دعواتك ونتكلم معاك شوية لما تفضي.»</a:t>
            </a:r>
          </a:p>
        </p:txBody>
      </p:sp>
      <p:sp>
        <p:nvSpPr>
          <p:cNvPr id="13" name="Rounded Rectangle 12"/>
          <p:cNvSpPr/>
          <p:nvPr/>
        </p:nvSpPr>
        <p:spPr>
          <a:xfrm>
            <a:off x="731520" y="3886200"/>
            <a:ext cx="5029200" cy="960120"/>
          </a:xfrm>
          <a:prstGeom prst="roundRect">
            <a:avLst/>
          </a:prstGeom>
          <a:solidFill>
            <a:srgbClr val="101620"/>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r" rtl="1">
              <a:defRPr sz="1050" b="1">
                <a:solidFill>
                  <a:srgbClr val="94A3B8"/>
                </a:solidFill>
                <a:latin typeface="Segoe UI"/>
              </a:defRPr>
            </a:pPr>
            <a:r>
              <a:t>📄 القالب الثابت التقليدي (Static Baseline Template):</a:t>
            </a:r>
          </a:p>
          <a:p>
            <a:pPr algn="r" rtl="1">
              <a:spcBef>
                <a:spcPts val="300"/>
              </a:spcBef>
              <a:defRPr sz="1000">
                <a:solidFill>
                  <a:srgbClr val="94A3B8"/>
                </a:solidFill>
                <a:latin typeface="Segoe UI"/>
              </a:defRPr>
            </a:pPr>
            <a:r>
              <a:t>«أنا أشعر بالضغط بخصوص الامتحانات وأود التحدث معك حول هذا الموضوع.»</a:t>
            </a:r>
          </a:p>
        </p:txBody>
      </p:sp>
      <p:sp>
        <p:nvSpPr>
          <p:cNvPr id="14" name="Rounded Rectangle 13"/>
          <p:cNvSpPr/>
          <p:nvPr/>
        </p:nvSpPr>
        <p:spPr>
          <a:xfrm>
            <a:off x="731520" y="4937760"/>
            <a:ext cx="5029200" cy="1188720"/>
          </a:xfrm>
          <a:prstGeom prst="roundRect">
            <a:avLst/>
          </a:prstGeom>
          <a:solidFill>
            <a:srgbClr val="101620"/>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r" rtl="1">
              <a:defRPr sz="1050" b="1">
                <a:solidFill>
                  <a:srgbClr val="10B981"/>
                </a:solidFill>
                <a:latin typeface="Segoe UI"/>
              </a:defRPr>
            </a:pPr>
            <a:r>
              <a:t>💡 الفارق العملي المقاس في التقييم:</a:t>
            </a:r>
          </a:p>
          <a:p>
            <a:pPr algn="r" rtl="1">
              <a:spcBef>
                <a:spcPts val="200"/>
              </a:spcBef>
              <a:defRPr sz="950">
                <a:solidFill>
                  <a:srgbClr val="F1F5F9"/>
                </a:solidFill>
                <a:latin typeface="Segoe UI"/>
              </a:defRPr>
            </a:pPr>
            <a:r>
              <a:t>القالب يبدو آلياً ومحرجاً، بينما صياغة جسر الذكية تنبض بالدفء الإنساني وخصوصية اللهجة والمقام الأسري — مما يكسر حاجز الصمت فورياً.</a:t>
            </a:r>
          </a:p>
        </p:txBody>
      </p:sp>
      <p:sp>
        <p:nvSpPr>
          <p:cNvPr id="15" name="TextBox 14"/>
          <p:cNvSpPr txBox="1"/>
          <p:nvPr/>
        </p:nvSpPr>
        <p:spPr>
          <a:xfrm>
            <a:off x="548640" y="6419088"/>
            <a:ext cx="11064240" cy="320040"/>
          </a:xfrm>
          <a:prstGeom prst="rect">
            <a:avLst/>
          </a:prstGeom>
          <a:noFill/>
        </p:spPr>
        <p:txBody>
          <a:bodyPr wrap="none">
            <a:spAutoFit/>
          </a:bodyPr>
          <a:lstStyle/>
          <a:p>
            <a:pPr algn="ctr" rtl="1">
              <a:defRPr sz="1000">
                <a:solidFill>
                  <a:srgbClr val="94A3B8"/>
                </a:solidFill>
                <a:latin typeface="Segoe UI"/>
              </a:defRPr>
            </a:pPr>
            <a:r>
              <a:t>جسر (Jisr) — محمد ثابت (رئيس الفريق)، ريان، معتز، شيماء  |  منتدى ليبيا للذكاء الاصطناعي 2026 (Ai4LY)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con.png"/>
          <p:cNvPicPr>
            <a:picLocks noChangeAspect="1"/>
          </p:cNvPicPr>
          <p:nvPr/>
        </p:nvPicPr>
        <p:blipFill>
          <a:blip r:embed="rId2"/>
          <a:stretch>
            <a:fillRect/>
          </a:stretch>
        </p:blipFill>
        <p:spPr>
          <a:xfrm>
            <a:off x="548640" y="292608"/>
            <a:ext cx="384048" cy="384048"/>
          </a:xfrm>
          <a:prstGeom prst="rect">
            <a:avLst/>
          </a:prstGeom>
        </p:spPr>
      </p:pic>
      <p:sp>
        <p:nvSpPr>
          <p:cNvPr id="4" name="TextBox 3"/>
          <p:cNvSpPr txBox="1"/>
          <p:nvPr/>
        </p:nvSpPr>
        <p:spPr>
          <a:xfrm>
            <a:off x="1024128" y="347472"/>
            <a:ext cx="5486400" cy="320040"/>
          </a:xfrm>
          <a:prstGeom prst="rect">
            <a:avLst/>
          </a:prstGeom>
          <a:noFill/>
        </p:spPr>
        <p:txBody>
          <a:bodyPr wrap="square">
            <a:spAutoFit/>
          </a:bodyPr>
          <a:lstStyle/>
          <a:p>
            <a:pPr algn="l">
              <a:defRPr sz="1100">
                <a:solidFill>
                  <a:srgbClr val="94A3B8"/>
                </a:solidFill>
                <a:latin typeface="Segoe UI"/>
              </a:defRPr>
            </a:pPr>
            <a:r>
              <a:t>Ai4LY National Codathon 2026 — منتدى ليبيا للذكاء الاصطناعي</a:t>
            </a:r>
          </a:p>
        </p:txBody>
      </p:sp>
      <p:sp>
        <p:nvSpPr>
          <p:cNvPr id="5" name="Rounded Rectangle 4"/>
          <p:cNvSpPr/>
          <p:nvPr/>
        </p:nvSpPr>
        <p:spPr>
          <a:xfrm>
            <a:off x="9418320" y="347472"/>
            <a:ext cx="2194560" cy="320040"/>
          </a:xfrm>
          <a:prstGeom prst="roundRect">
            <a:avLst/>
          </a:prstGeom>
          <a:solidFill>
            <a:srgbClr val="161E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rtl="1">
              <a:defRPr sz="1100" b="1">
                <a:solidFill>
                  <a:srgbClr val="F59E0B"/>
                </a:solidFill>
                <a:latin typeface="Segoe UI"/>
              </a:defRPr>
            </a:pPr>
            <a:r>
              <a:t>الشريحة 4  |  3:00 – 4:00</a:t>
            </a:r>
          </a:p>
        </p:txBody>
      </p:sp>
      <p:sp>
        <p:nvSpPr>
          <p:cNvPr id="6" name="TextBox 5"/>
          <p:cNvSpPr txBox="1"/>
          <p:nvPr/>
        </p:nvSpPr>
        <p:spPr>
          <a:xfrm>
            <a:off x="548640" y="777240"/>
            <a:ext cx="11064240" cy="502920"/>
          </a:xfrm>
          <a:prstGeom prst="rect">
            <a:avLst/>
          </a:prstGeom>
          <a:noFill/>
        </p:spPr>
        <p:txBody>
          <a:bodyPr wrap="square">
            <a:spAutoFit/>
          </a:bodyPr>
          <a:lstStyle/>
          <a:p>
            <a:pPr algn="r" rtl="1">
              <a:defRPr sz="2100" b="1">
                <a:solidFill>
                  <a:srgbClr val="F1F5F9"/>
                </a:solidFill>
                <a:latin typeface="Segoe UI"/>
              </a:defRPr>
            </a:pPr>
            <a:r>
              <a:t>طبقة الحارس والأمان (Safety Guardian Layer: Safe Before Helpful)  —  Safety Guardian Layer: Safe Before Helpful</a:t>
            </a:r>
          </a:p>
        </p:txBody>
      </p:sp>
      <p:sp>
        <p:nvSpPr>
          <p:cNvPr id="7" name="TextBox 6"/>
          <p:cNvSpPr txBox="1"/>
          <p:nvPr/>
        </p:nvSpPr>
        <p:spPr>
          <a:xfrm>
            <a:off x="548640" y="1298448"/>
            <a:ext cx="11064240" cy="320040"/>
          </a:xfrm>
          <a:prstGeom prst="rect">
            <a:avLst/>
          </a:prstGeom>
          <a:noFill/>
        </p:spPr>
        <p:txBody>
          <a:bodyPr wrap="square">
            <a:spAutoFit/>
          </a:bodyPr>
          <a:lstStyle/>
          <a:p>
            <a:pPr algn="r" rtl="1">
              <a:defRPr sz="1200">
                <a:solidFill>
                  <a:srgbClr val="94A3B8"/>
                </a:solidFill>
                <a:latin typeface="Segoe UI"/>
              </a:defRPr>
            </a:pPr>
            <a:r>
              <a:t>الأمان يسبق المساعدة: فحص مسبق، خصوصية صفرية، وأرقام قياسية مقاسة علمياً</a:t>
            </a:r>
          </a:p>
        </p:txBody>
      </p:sp>
      <p:sp>
        <p:nvSpPr>
          <p:cNvPr id="8" name="Rectangle 7"/>
          <p:cNvSpPr/>
          <p:nvPr/>
        </p:nvSpPr>
        <p:spPr>
          <a:xfrm>
            <a:off x="548640" y="1691640"/>
            <a:ext cx="11064240"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874519"/>
            <a:ext cx="5394960" cy="438912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المعمارية الأمنية ثلاثية المراحل (3-Stage Safety Architecture)</a:t>
            </a:r>
          </a:p>
          <a:p>
            <a:pPr algn="r" rtl="1">
              <a:spcBef>
                <a:spcPts val="500"/>
              </a:spcBef>
              <a:defRPr sz="1150" b="1">
                <a:solidFill>
                  <a:srgbClr val="F59E0B"/>
                </a:solidFill>
                <a:latin typeface="Segoe UI"/>
              </a:defRPr>
            </a:pPr>
            <a:r>
              <a:t>• المرحلة 1: الفحص المسبق (Pre-Drafting Risk Gate)</a:t>
            </a:r>
          </a:p>
          <a:p>
            <a:pPr algn="r" rtl="1">
              <a:spcAft>
                <a:spcPts val="300"/>
              </a:spcAft>
              <a:defRPr sz="1000">
                <a:solidFill>
                  <a:srgbClr val="94A3B8"/>
                </a:solidFill>
                <a:latin typeface="Segoe UI"/>
              </a:defRPr>
            </a:pPr>
            <a:r>
              <a:t>فحص مدخلات المستخدم قبل وصولها للذكاء الاصطناعي. عند اكتشاف مؤشر أزمة حادة باللهجة، يُعلّق التوليد فوراً وبدون أي تأخير.</a:t>
            </a:r>
          </a:p>
          <a:p>
            <a:pPr algn="r" rtl="1">
              <a:spcBef>
                <a:spcPts val="500"/>
              </a:spcBef>
              <a:defRPr sz="1150" b="1">
                <a:solidFill>
                  <a:srgbClr val="EF4444"/>
                </a:solidFill>
                <a:latin typeface="Segoe UI"/>
              </a:defRPr>
            </a:pPr>
            <a:r>
              <a:t>• المرحلة 2: كارت الدعم الثابت المعتمد (Support Card Modal)</a:t>
            </a:r>
          </a:p>
          <a:p>
            <a:pPr algn="r" rtl="1">
              <a:spcAft>
                <a:spcPts val="300"/>
              </a:spcAft>
              <a:defRPr sz="1000">
                <a:solidFill>
                  <a:srgbClr val="94A3B8"/>
                </a:solidFill>
                <a:latin typeface="Segoe UI"/>
              </a:defRPr>
            </a:pPr>
            <a:r>
              <a:t>عرض رسالة الطوارئ المعتمدة مع تجنب كتابة أرقام خطوط ساخنة وهمية أو غير محققة (contacts: []) للحفاظ على أمان المستخدم.</a:t>
            </a:r>
          </a:p>
          <a:p>
            <a:pPr algn="r" rtl="1">
              <a:spcBef>
                <a:spcPts val="500"/>
              </a:spcBef>
              <a:defRPr sz="1150" b="1">
                <a:solidFill>
                  <a:srgbClr val="F59E0B"/>
                </a:solidFill>
                <a:latin typeface="Segoe UI"/>
              </a:defRPr>
            </a:pPr>
            <a:r>
              <a:t>• المرحلة 3: فلترة المخرجات القطعية (Deterministic Output Guard)</a:t>
            </a:r>
          </a:p>
          <a:p>
            <a:pPr algn="r" rtl="1">
              <a:spcAft>
                <a:spcPts val="300"/>
              </a:spcAft>
              <a:defRPr sz="1000">
                <a:solidFill>
                  <a:srgbClr val="94A3B8"/>
                </a:solidFill>
                <a:latin typeface="Segoe UI"/>
              </a:defRPr>
            </a:pPr>
            <a:r>
              <a:t>فحص المسودات الناتجة بقائمة حظر تضم 55 مصطلحاً تشخيصياً ودوائياً (أدوية، اضطرابات) لمنع أي ادعاء طبي نهائياً.</a:t>
            </a:r>
          </a:p>
          <a:p>
            <a:pPr algn="r" rtl="1">
              <a:spcBef>
                <a:spcPts val="500"/>
              </a:spcBef>
              <a:defRPr sz="1150" b="1">
                <a:solidFill>
                  <a:srgbClr val="10B981"/>
                </a:solidFill>
                <a:latin typeface="Segoe UI"/>
              </a:defRPr>
            </a:pPr>
            <a:r>
              <a:t>• 🆘 طريق بشري دائم (Persistent Human Route)</a:t>
            </a:r>
          </a:p>
          <a:p>
            <a:pPr algn="r" rtl="1">
              <a:spcAft>
                <a:spcPts val="300"/>
              </a:spcAft>
              <a:defRPr sz="1000">
                <a:solidFill>
                  <a:srgbClr val="94A3B8"/>
                </a:solidFill>
                <a:latin typeface="Segoe UI"/>
              </a:defRPr>
            </a:pPr>
            <a:r>
              <a:t>زر «تكلم مع حد توا» متواجد في جميع الشاشات للوصول الفوري للإنسان دون انتظار أي خوارزمية.</a:t>
            </a:r>
          </a:p>
        </p:txBody>
      </p:sp>
      <p:sp>
        <p:nvSpPr>
          <p:cNvPr id="10" name="Rounded Rectangle 9"/>
          <p:cNvSpPr/>
          <p:nvPr/>
        </p:nvSpPr>
        <p:spPr>
          <a:xfrm>
            <a:off x="548640" y="1874519"/>
            <a:ext cx="5394960" cy="438912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نتائج القياس العلمي والخصوصية المطلقة (Empirical Benchmarks &amp; Privacy)</a:t>
            </a:r>
          </a:p>
        </p:txBody>
      </p:sp>
      <p:sp>
        <p:nvSpPr>
          <p:cNvPr id="11" name="Rounded Rectangle 10"/>
          <p:cNvSpPr/>
          <p:nvPr/>
        </p:nvSpPr>
        <p:spPr>
          <a:xfrm>
            <a:off x="731520" y="2331720"/>
            <a:ext cx="5029200" cy="1874519"/>
          </a:xfrm>
          <a:prstGeom prst="roundRect">
            <a:avLst/>
          </a:prstGeom>
          <a:solidFill>
            <a:srgbClr val="101620"/>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r" rtl="1">
              <a:defRPr sz="1100" b="1">
                <a:solidFill>
                  <a:srgbClr val="10B981"/>
                </a:solidFill>
                <a:latin typeface="Segoe UI"/>
              </a:defRPr>
            </a:pPr>
            <a:r>
              <a:t>🎯 نتائج القياس على معيار الأزمات التخليقي (N=25 — Dev Set):</a:t>
            </a:r>
          </a:p>
          <a:p>
            <a:pPr algn="r" rtl="1">
              <a:spcBef>
                <a:spcPts val="200"/>
              </a:spcBef>
              <a:defRPr sz="950">
                <a:solidFill>
                  <a:srgbClr val="F1F5F9"/>
                </a:solidFill>
                <a:latin typeface="Segoe UI"/>
              </a:defRPr>
            </a:pPr>
            <a:r>
              <a:t>• نسبة التقاط الأزمات (Crisis Recall): 100.0% (10/10 حالات — مجال ويلسون 72.2% – 100%)</a:t>
            </a:r>
          </a:p>
          <a:p>
            <a:pPr algn="r" rtl="1">
              <a:spcBef>
                <a:spcPts val="200"/>
              </a:spcBef>
              <a:defRPr sz="950">
                <a:solidFill>
                  <a:srgbClr val="F1F5F9"/>
                </a:solidFill>
                <a:latin typeface="Segoe UI"/>
              </a:defRPr>
            </a:pPr>
            <a:r>
              <a:t>• معدل الإنذار الخاطئ (False-Alarm): 0.0% (0/11 حالات ضغط آمنة تم تمريرها)</a:t>
            </a:r>
          </a:p>
          <a:p>
            <a:pPr algn="r" rtl="1">
              <a:spcBef>
                <a:spcPts val="200"/>
              </a:spcBef>
              <a:defRPr sz="950">
                <a:solidFill>
                  <a:srgbClr val="F1F5F9"/>
                </a:solidFill>
                <a:latin typeface="Segoe UI"/>
              </a:defRPr>
            </a:pPr>
            <a:r>
              <a:t>• معجم الأزمات الليبية: 60 عبارة أزمة محققة تغطي 360+ صياغة دارجة</a:t>
            </a:r>
          </a:p>
          <a:p>
            <a:pPr algn="r" rtl="1">
              <a:spcBef>
                <a:spcPts val="200"/>
              </a:spcBef>
              <a:defRPr sz="950">
                <a:solidFill>
                  <a:srgbClr val="F1F5F9"/>
                </a:solidFill>
                <a:latin typeface="Segoe UI"/>
              </a:defRPr>
            </a:pPr>
            <a:r>
              <a:t>• قائمة المصطلحات المحظورة: 55 مصطلحاً طبياً ودوائياً محظورة قطعياً بنسبة 100%</a:t>
            </a:r>
          </a:p>
        </p:txBody>
      </p:sp>
      <p:sp>
        <p:nvSpPr>
          <p:cNvPr id="12" name="Rounded Rectangle 11"/>
          <p:cNvSpPr/>
          <p:nvPr/>
        </p:nvSpPr>
        <p:spPr>
          <a:xfrm>
            <a:off x="731520" y="4343400"/>
            <a:ext cx="5029200" cy="1783080"/>
          </a:xfrm>
          <a:prstGeom prst="roundRect">
            <a:avLst/>
          </a:prstGeom>
          <a:solidFill>
            <a:srgbClr val="10162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r" rtl="1">
              <a:defRPr sz="1100" b="1">
                <a:solidFill>
                  <a:srgbClr val="F59E0B"/>
                </a:solidFill>
                <a:latin typeface="Segoe UI"/>
              </a:defRPr>
            </a:pPr>
            <a:r>
              <a:t>🔒 الخصوصية الصفرية وحماية الهوية (Zero-Data-Retention):</a:t>
            </a:r>
          </a:p>
          <a:p>
            <a:pPr algn="r" rtl="1">
              <a:spcBef>
                <a:spcPts val="200"/>
              </a:spcBef>
              <a:defRPr sz="950">
                <a:solidFill>
                  <a:srgbClr val="F1F5F9"/>
                </a:solidFill>
                <a:latin typeface="Segoe UI"/>
              </a:defRPr>
            </a:pPr>
            <a:r>
              <a:t>• بدون حسابات أو تسجيل: لا نطلب بريداً، لا أسماء، ولا نخزن بيانات على أي خادم خارجي.</a:t>
            </a:r>
          </a:p>
          <a:p>
            <a:pPr algn="r" rtl="1">
              <a:spcBef>
                <a:spcPts val="200"/>
              </a:spcBef>
              <a:defRPr sz="950">
                <a:solidFill>
                  <a:srgbClr val="F1F5F9"/>
                </a:solidFill>
                <a:latin typeface="Segoe UI"/>
              </a:defRPr>
            </a:pPr>
            <a:r>
              <a:t>• تطهير فوري للبيانات (PII Sanitizer): حجب أرقام الهواتف والأسماء محلياً قبل التوليد.</a:t>
            </a:r>
          </a:p>
          <a:p>
            <a:pPr algn="r" rtl="1">
              <a:spcBef>
                <a:spcPts val="200"/>
              </a:spcBef>
              <a:defRPr sz="950">
                <a:solidFill>
                  <a:srgbClr val="F1F5F9"/>
                </a:solidFill>
                <a:latin typeface="Segoe UI"/>
              </a:defRPr>
            </a:pPr>
            <a:r>
              <a:t>• ذاكرة معزولة ومسح بنقرة واحدة: التخزين محلي على الجهاز فقط ويمكن حذفه فوراً.</a:t>
            </a:r>
          </a:p>
        </p:txBody>
      </p:sp>
      <p:sp>
        <p:nvSpPr>
          <p:cNvPr id="13" name="TextBox 12"/>
          <p:cNvSpPr txBox="1"/>
          <p:nvPr/>
        </p:nvSpPr>
        <p:spPr>
          <a:xfrm>
            <a:off x="548640" y="6419088"/>
            <a:ext cx="11064240" cy="320040"/>
          </a:xfrm>
          <a:prstGeom prst="rect">
            <a:avLst/>
          </a:prstGeom>
          <a:noFill/>
        </p:spPr>
        <p:txBody>
          <a:bodyPr wrap="none">
            <a:spAutoFit/>
          </a:bodyPr>
          <a:lstStyle/>
          <a:p>
            <a:pPr algn="ctr" rtl="1">
              <a:defRPr sz="1000">
                <a:solidFill>
                  <a:srgbClr val="94A3B8"/>
                </a:solidFill>
                <a:latin typeface="Segoe UI"/>
              </a:defRPr>
            </a:pPr>
            <a:r>
              <a:t>جسر (Jisr) — محمد ثابت (رئيس الفريق)، ريان، معتز، شيماء  |  منتدى ليبيا للذكاء الاصطناعي 2026 (Ai4LY)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con.png"/>
          <p:cNvPicPr>
            <a:picLocks noChangeAspect="1"/>
          </p:cNvPicPr>
          <p:nvPr/>
        </p:nvPicPr>
        <p:blipFill>
          <a:blip r:embed="rId2"/>
          <a:stretch>
            <a:fillRect/>
          </a:stretch>
        </p:blipFill>
        <p:spPr>
          <a:xfrm>
            <a:off x="548640" y="292608"/>
            <a:ext cx="384048" cy="384048"/>
          </a:xfrm>
          <a:prstGeom prst="rect">
            <a:avLst/>
          </a:prstGeom>
        </p:spPr>
      </p:pic>
      <p:sp>
        <p:nvSpPr>
          <p:cNvPr id="4" name="TextBox 3"/>
          <p:cNvSpPr txBox="1"/>
          <p:nvPr/>
        </p:nvSpPr>
        <p:spPr>
          <a:xfrm>
            <a:off x="1024128" y="347472"/>
            <a:ext cx="5486400" cy="320040"/>
          </a:xfrm>
          <a:prstGeom prst="rect">
            <a:avLst/>
          </a:prstGeom>
          <a:noFill/>
        </p:spPr>
        <p:txBody>
          <a:bodyPr wrap="square">
            <a:spAutoFit/>
          </a:bodyPr>
          <a:lstStyle/>
          <a:p>
            <a:pPr algn="l">
              <a:defRPr sz="1100">
                <a:solidFill>
                  <a:srgbClr val="94A3B8"/>
                </a:solidFill>
                <a:latin typeface="Segoe UI"/>
              </a:defRPr>
            </a:pPr>
            <a:r>
              <a:t>Ai4LY National Codathon 2026 — منتدى ليبيا للذكاء الاصطناعي</a:t>
            </a:r>
          </a:p>
        </p:txBody>
      </p:sp>
      <p:sp>
        <p:nvSpPr>
          <p:cNvPr id="5" name="Rounded Rectangle 4"/>
          <p:cNvSpPr/>
          <p:nvPr/>
        </p:nvSpPr>
        <p:spPr>
          <a:xfrm>
            <a:off x="9418320" y="347472"/>
            <a:ext cx="2194560" cy="320040"/>
          </a:xfrm>
          <a:prstGeom prst="roundRect">
            <a:avLst/>
          </a:prstGeom>
          <a:solidFill>
            <a:srgbClr val="161E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rtl="1">
              <a:defRPr sz="1100" b="1">
                <a:solidFill>
                  <a:srgbClr val="F59E0B"/>
                </a:solidFill>
                <a:latin typeface="Segoe UI"/>
              </a:defRPr>
            </a:pPr>
            <a:r>
              <a:t>الشريحة 5  |  4:00 – 5:00</a:t>
            </a:r>
          </a:p>
        </p:txBody>
      </p:sp>
      <p:sp>
        <p:nvSpPr>
          <p:cNvPr id="6" name="TextBox 5"/>
          <p:cNvSpPr txBox="1"/>
          <p:nvPr/>
        </p:nvSpPr>
        <p:spPr>
          <a:xfrm>
            <a:off x="548640" y="777240"/>
            <a:ext cx="11064240" cy="502920"/>
          </a:xfrm>
          <a:prstGeom prst="rect">
            <a:avLst/>
          </a:prstGeom>
          <a:noFill/>
        </p:spPr>
        <p:txBody>
          <a:bodyPr wrap="square">
            <a:spAutoFit/>
          </a:bodyPr>
          <a:lstStyle/>
          <a:p>
            <a:pPr algn="r" rtl="1">
              <a:defRPr sz="2100" b="1">
                <a:solidFill>
                  <a:srgbClr val="F1F5F9"/>
                </a:solidFill>
                <a:latin typeface="Segoe UI"/>
              </a:defRPr>
            </a:pPr>
            <a:r>
              <a:t>الجدوى في واقع ليبيا وفريق العمل (Libya Feasibility &amp; Team Roles)  —  Built for Libyan Reality &amp; 4-Person Engineering Ownership</a:t>
            </a:r>
          </a:p>
        </p:txBody>
      </p:sp>
      <p:sp>
        <p:nvSpPr>
          <p:cNvPr id="7" name="TextBox 6"/>
          <p:cNvSpPr txBox="1"/>
          <p:nvPr/>
        </p:nvSpPr>
        <p:spPr>
          <a:xfrm>
            <a:off x="548640" y="1298448"/>
            <a:ext cx="11064240" cy="320040"/>
          </a:xfrm>
          <a:prstGeom prst="rect">
            <a:avLst/>
          </a:prstGeom>
          <a:noFill/>
        </p:spPr>
        <p:txBody>
          <a:bodyPr wrap="square">
            <a:spAutoFit/>
          </a:bodyPr>
          <a:lstStyle/>
          <a:p>
            <a:pPr algn="r" rtl="1">
              <a:defRPr sz="1200">
                <a:solidFill>
                  <a:srgbClr val="94A3B8"/>
                </a:solidFill>
                <a:latin typeface="Segoe UI"/>
              </a:defRPr>
            </a:pPr>
            <a:r>
              <a:t>مصمم لظروف البنية التحتية الليبية، وتكامل الاختصاصات الهندسية الأربعة للفريق</a:t>
            </a:r>
          </a:p>
        </p:txBody>
      </p:sp>
      <p:sp>
        <p:nvSpPr>
          <p:cNvPr id="8" name="Rectangle 7"/>
          <p:cNvSpPr/>
          <p:nvPr/>
        </p:nvSpPr>
        <p:spPr>
          <a:xfrm>
            <a:off x="548640" y="1691640"/>
            <a:ext cx="11064240"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874519"/>
            <a:ext cx="5394960" cy="438912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الملائمة لواقع البنية التحتية والمجتمع في ليبيا (Libya Feasibility)</a:t>
            </a:r>
          </a:p>
          <a:p>
            <a:pPr algn="r" rtl="1">
              <a:spcBef>
                <a:spcPts val="500"/>
              </a:spcBef>
              <a:defRPr sz="1150" b="1">
                <a:solidFill>
                  <a:srgbClr val="F59E0B"/>
                </a:solidFill>
                <a:latin typeface="Segoe UI"/>
              </a:defRPr>
            </a:pPr>
            <a:r>
              <a:t>📦 حزمة Android APK مستقلة (builds/jisr-v1.0.0.apk):</a:t>
            </a:r>
          </a:p>
          <a:p>
            <a:pPr algn="r" rtl="1">
              <a:spcAft>
                <a:spcPts val="400"/>
              </a:spcAft>
              <a:defRPr sz="1000">
                <a:solidFill>
                  <a:srgbClr val="94A3B8"/>
                </a:solidFill>
                <a:latin typeface="Segoe UI"/>
              </a:defRPr>
            </a:pPr>
            <a:r>
              <a:t>تطبيق حقيقي جاهز للتثبيت الفوري لجميع أجهزة أندرويد دون الحاجة لمتجر Google Play أو بيئات برمجية معقدة.</a:t>
            </a:r>
          </a:p>
          <a:p>
            <a:pPr algn="r" rtl="1">
              <a:spcBef>
                <a:spcPts val="500"/>
              </a:spcBef>
              <a:defRPr sz="1150" b="1">
                <a:solidFill>
                  <a:srgbClr val="10B981"/>
                </a:solidFill>
                <a:latin typeface="Segoe UI"/>
              </a:defRPr>
            </a:pPr>
            <a:r>
              <a:t>⚡ صمود تام أمام انقطاع الإنترنت والكهرباء:</a:t>
            </a:r>
          </a:p>
          <a:p>
            <a:pPr algn="r" rtl="1">
              <a:spcAft>
                <a:spcPts val="400"/>
              </a:spcAft>
              <a:defRPr sz="1000">
                <a:solidFill>
                  <a:srgbClr val="94A3B8"/>
                </a:solidFill>
                <a:latin typeface="Segoe UI"/>
              </a:defRPr>
            </a:pPr>
            <a:r>
              <a:t>استهلاك شبكة خفيف جداً (&lt;2KB)، مع تحول تلقائي وفوري للقوالب المحلية (safety/plain-templates.json) عند انقطاع الاتصال.</a:t>
            </a:r>
          </a:p>
          <a:p>
            <a:pPr algn="r" rtl="1">
              <a:spcBef>
                <a:spcPts val="500"/>
              </a:spcBef>
              <a:defRPr sz="1150" b="1">
                <a:solidFill>
                  <a:srgbClr val="F1F5F9"/>
                </a:solidFill>
                <a:latin typeface="Segoe UI"/>
              </a:defRPr>
            </a:pPr>
            <a:r>
              <a:t>🇱🇾 اللهجة الليبية البيضاء والثقافة الأسرية:</a:t>
            </a:r>
          </a:p>
          <a:p>
            <a:pPr algn="r" rtl="1">
              <a:spcAft>
                <a:spcPts val="400"/>
              </a:spcAft>
              <a:defRPr sz="1000">
                <a:solidFill>
                  <a:srgbClr val="94A3B8"/>
                </a:solidFill>
                <a:latin typeface="Segoe UI"/>
              </a:defRPr>
            </a:pPr>
            <a:r>
              <a:t>مُعاير لعبارات الشباب اليومية (مضغوط، تعبان، مخنوق)، ومراعاة مكانة الوالدين والإخوة كأول خط دعم إنساني طبيعي.</a:t>
            </a:r>
          </a:p>
          <a:p>
            <a:pPr algn="r" rtl="1">
              <a:spcBef>
                <a:spcPts val="500"/>
              </a:spcBef>
              <a:defRPr sz="1150" b="1">
                <a:solidFill>
                  <a:srgbClr val="F59E0B"/>
                </a:solidFill>
                <a:latin typeface="Segoe UI"/>
              </a:defRPr>
            </a:pPr>
            <a:r>
              <a:t>💬 التصدير المباشر لواتساب وماسنجر:</a:t>
            </a:r>
          </a:p>
          <a:p>
            <a:pPr algn="r" rtl="1">
              <a:spcAft>
                <a:spcPts val="400"/>
              </a:spcAft>
              <a:defRPr sz="1000">
                <a:solidFill>
                  <a:srgbClr val="94A3B8"/>
                </a:solidFill>
                <a:latin typeface="Segoe UI"/>
              </a:defRPr>
            </a:pPr>
            <a:r>
              <a:t>مشاركة بضغطة زر واحدة عبر التطبيقات التي يستخدمها أكثر من 90% من شباب ليبيا دون أي خادم وسيط.</a:t>
            </a:r>
          </a:p>
        </p:txBody>
      </p:sp>
      <p:pic>
        <p:nvPicPr>
          <p:cNvPr id="10" name="Picture 9" descr="icon.png"/>
          <p:cNvPicPr>
            <a:picLocks noChangeAspect="1"/>
          </p:cNvPicPr>
          <p:nvPr/>
        </p:nvPicPr>
        <p:blipFill>
          <a:blip r:embed="rId2"/>
          <a:stretch>
            <a:fillRect/>
          </a:stretch>
        </p:blipFill>
        <p:spPr>
          <a:xfrm>
            <a:off x="6400800" y="1993392"/>
            <a:ext cx="594360" cy="594360"/>
          </a:xfrm>
          <a:prstGeom prst="rect">
            <a:avLst/>
          </a:prstGeom>
        </p:spPr>
      </p:pic>
      <p:sp>
        <p:nvSpPr>
          <p:cNvPr id="11" name="Rounded Rectangle 10"/>
          <p:cNvSpPr/>
          <p:nvPr/>
        </p:nvSpPr>
        <p:spPr>
          <a:xfrm>
            <a:off x="548640" y="1874519"/>
            <a:ext cx="5394960" cy="438912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فريق العمل وتوزيع المسؤوليات (Team Engineering Ownership)</a:t>
            </a:r>
          </a:p>
          <a:p>
            <a:pPr algn="r" rtl="1">
              <a:spcBef>
                <a:spcPts val="500"/>
              </a:spcBef>
              <a:defRPr sz="1150" b="1">
                <a:solidFill>
                  <a:srgbClr val="F59E0B"/>
                </a:solidFill>
                <a:latin typeface="Segoe UI"/>
              </a:defRPr>
            </a:pPr>
            <a:r>
              <a:t>• 👑 محمد ثابت (Mohamed Thabet) — قائد الفريق (Team Leader):</a:t>
            </a:r>
          </a:p>
          <a:p>
            <a:pPr algn="r" rtl="1">
              <a:spcAft>
                <a:spcPts val="400"/>
              </a:spcAft>
              <a:defRPr sz="950">
                <a:solidFill>
                  <a:srgbClr val="94A3B8"/>
                </a:solidFill>
                <a:latin typeface="Segoe UI"/>
              </a:defRPr>
            </a:pPr>
            <a:r>
              <a:t>المعمارية، التوثيق الفني (REPORT.md)، عروض التحكيم، واجهات الثقة (BaselineComparison, FaithfulnessView, OutboundPreview)، والتدقيق اللغوي.</a:t>
            </a:r>
          </a:p>
          <a:p>
            <a:pPr algn="r" rtl="1">
              <a:spcBef>
                <a:spcPts val="500"/>
              </a:spcBef>
              <a:defRPr sz="1150" b="1">
                <a:solidFill>
                  <a:srgbClr val="F1F5F9"/>
                </a:solidFill>
                <a:latin typeface="Segoe UI"/>
              </a:defRPr>
            </a:pPr>
            <a:r>
              <a:t>• 📱 ريان (Rayan) — مهندس الواجهات وتطبيق المحمول (Mobile Lead):</a:t>
            </a:r>
          </a:p>
          <a:p>
            <a:pPr algn="r" rtl="1">
              <a:spcAft>
                <a:spcPts val="400"/>
              </a:spcAft>
              <a:defRPr sz="950">
                <a:solidFill>
                  <a:srgbClr val="94A3B8"/>
                </a:solidFill>
                <a:latin typeface="Segoe UI"/>
              </a:defRPr>
            </a:pPr>
            <a:r>
              <a:t>تطبيق React Native/Expo، الـ 7 رقائق، زر الطريق البشري («تكلم مع حد توا»)، وحزم الـ APK المستقل (builds/jisr-v1.0.0.apk).</a:t>
            </a:r>
          </a:p>
          <a:p>
            <a:pPr algn="r" rtl="1">
              <a:spcBef>
                <a:spcPts val="500"/>
              </a:spcBef>
              <a:defRPr sz="1150" b="1">
                <a:solidFill>
                  <a:srgbClr val="F1F5F9"/>
                </a:solidFill>
                <a:latin typeface="Segoe UI"/>
              </a:defRPr>
            </a:pPr>
            <a:r>
              <a:t>• ⚙️ معتز (Muatz) — مهندس الذكاء الاصطناعي والخلفية (AI &amp; Backend):</a:t>
            </a:r>
          </a:p>
          <a:p>
            <a:pPr algn="r" rtl="1">
              <a:spcAft>
                <a:spcPts val="400"/>
              </a:spcAft>
              <a:defRPr sz="950">
                <a:solidFill>
                  <a:srgbClr val="94A3B8"/>
                </a:solidFill>
                <a:latin typeface="Segoe UI"/>
              </a:defRPr>
            </a:pPr>
            <a:r>
              <a:t>خادم FastAPI المستقل، توجيه نماذج Gemini 1.5 Flash و Groq Llama 3.3، وتطهير البيانات الحساسة PII.</a:t>
            </a:r>
          </a:p>
          <a:p>
            <a:pPr algn="r" rtl="1">
              <a:spcBef>
                <a:spcPts val="500"/>
              </a:spcBef>
              <a:defRPr sz="1150" b="1">
                <a:solidFill>
                  <a:srgbClr val="10B981"/>
                </a:solidFill>
                <a:latin typeface="Segoe UI"/>
              </a:defRPr>
            </a:pPr>
            <a:r>
              <a:t>• 🛡️ شيماء (Shima) — مهندسة الأمان وطبقة الحارس (Safety Engineer):</a:t>
            </a:r>
          </a:p>
          <a:p>
            <a:pPr algn="r" rtl="1">
              <a:spcAft>
                <a:spcPts val="400"/>
              </a:spcAft>
              <a:defRPr sz="950">
                <a:solidFill>
                  <a:srgbClr val="94A3B8"/>
                </a:solidFill>
                <a:latin typeface="Segoe UI"/>
              </a:defRPr>
            </a:pPr>
            <a:r>
              <a:t>معجم الأزمات الليبية (60 عبارة)، قائمة حظر المصطلحات (55 مصطلحاً)، واختبارات الأمان الـ 450 واختبارات Parity.</a:t>
            </a:r>
          </a:p>
        </p:txBody>
      </p:sp>
      <p:sp>
        <p:nvSpPr>
          <p:cNvPr id="12" name="TextBox 11"/>
          <p:cNvSpPr txBox="1"/>
          <p:nvPr/>
        </p:nvSpPr>
        <p:spPr>
          <a:xfrm>
            <a:off x="548640" y="6419088"/>
            <a:ext cx="11064240" cy="320040"/>
          </a:xfrm>
          <a:prstGeom prst="rect">
            <a:avLst/>
          </a:prstGeom>
          <a:noFill/>
        </p:spPr>
        <p:txBody>
          <a:bodyPr wrap="none">
            <a:spAutoFit/>
          </a:bodyPr>
          <a:lstStyle/>
          <a:p>
            <a:pPr algn="ctr" rtl="1">
              <a:defRPr sz="1000">
                <a:solidFill>
                  <a:srgbClr val="94A3B8"/>
                </a:solidFill>
                <a:latin typeface="Segoe UI"/>
              </a:defRPr>
            </a:pPr>
            <a:r>
              <a:t>جسر (Jisr) — محمد ثابت (رئيس الفريق)، ريان، معتز، شيماء  |  منتدى ليبيا للذكاء الاصطناعي 2026 (Ai4LY)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